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Doanh thu (nghìn đồng)</c:v>
                </c:pt>
              </c:strCache>
            </c:strRef>
          </c:tx>
          <c:spPr>
            <a:solidFill>
              <a:srgbClr val="9AA9A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715-450F-B447-44C6BFF23E3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715-450F-B447-44C6BFF23E33}"/>
              </c:ext>
            </c:extLst>
          </c:dPt>
          <c:dPt>
            <c:idx val="2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715-450F-B447-44C6BFF23E33}"/>
              </c:ext>
            </c:extLst>
          </c:dPt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3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Tháng 8</c:v>
                </c:pt>
                <c:pt idx="1">
                  <c:v>Tháng 9</c:v>
                </c:pt>
                <c:pt idx="2">
                  <c:v>Tháng 10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45.7</c:v>
                </c:pt>
                <c:pt idx="1">
                  <c:v>83.4</c:v>
                </c:pt>
                <c:pt idx="2">
                  <c:v>99.8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715-450F-B447-44C6BFF23E3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Tháng 9</c:v>
                </c:pt>
              </c:strCache>
            </c:strRef>
          </c:tx>
          <c:spPr>
            <a:solidFill>
              <a:srgbClr val="9AA9A5"/>
            </a:solidFill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3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Nạp ĐT</c:v>
                </c:pt>
                <c:pt idx="1">
                  <c:v>Chuyển tiền</c:v>
                </c:pt>
                <c:pt idx="2">
                  <c:v>Học phí</c:v>
                </c:pt>
                <c:pt idx="3">
                  <c:v>Nạp ví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8.4</c:v>
                </c:pt>
                <c:pt idx="1">
                  <c:v>29.5</c:v>
                </c:pt>
                <c:pt idx="2">
                  <c:v>41.4</c:v>
                </c:pt>
                <c:pt idx="3">
                  <c:v>4.0999999999999996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B9-4958-98DC-67A70E0C32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Tháng 10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3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Nạp ĐT</c:v>
                </c:pt>
                <c:pt idx="1">
                  <c:v>Chuyển tiền</c:v>
                </c:pt>
                <c:pt idx="2">
                  <c:v>Học phí</c:v>
                </c:pt>
                <c:pt idx="3">
                  <c:v>Nạp ví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41.2</c:v>
                </c:pt>
                <c:pt idx="1">
                  <c:v>29.8</c:v>
                </c:pt>
                <c:pt idx="2">
                  <c:v>28.8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B9-4958-98DC-67A70E0C32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3000"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Doanh thu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3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Tháng 8</c:v>
                </c:pt>
                <c:pt idx="1">
                  <c:v>Tháng 9</c:v>
                </c:pt>
                <c:pt idx="2">
                  <c:v>Tháng 10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45.7</c:v>
                </c:pt>
                <c:pt idx="1">
                  <c:v>83.4</c:v>
                </c:pt>
                <c:pt idx="2">
                  <c:v>99.8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EE-4E57-A594-06367F5A42C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Phí ngân hàng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3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Tháng 8</c:v>
                </c:pt>
                <c:pt idx="1">
                  <c:v>Tháng 9</c:v>
                </c:pt>
                <c:pt idx="2">
                  <c:v>Tháng 10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32.700000000000003</c:v>
                </c:pt>
                <c:pt idx="1">
                  <c:v>46.6</c:v>
                </c:pt>
                <c:pt idx="2">
                  <c:v>37.299999999999997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6EE-4E57-A594-06367F5A42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3000"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Lãi ròng (nghìn đồng)</c:v>
                </c:pt>
              </c:strCache>
            </c:strRef>
          </c:tx>
          <c:spPr>
            <a:ln w="50800" cap="flat">
              <a:solidFill>
                <a:srgbClr val="14B8A6"/>
              </a:solidFill>
              <a:prstDash val="solid"/>
              <a:round/>
            </a:ln>
            <a:effectLst/>
          </c:spPr>
          <c:marker>
            <c:symbol val="circle"/>
            <c:size val="12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3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Tháng 8</c:v>
                </c:pt>
                <c:pt idx="1">
                  <c:v>Tháng 9</c:v>
                </c:pt>
                <c:pt idx="2">
                  <c:v>Tháng 10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</c:v>
                </c:pt>
                <c:pt idx="1">
                  <c:v>36.799999999999997</c:v>
                </c:pt>
                <c:pt idx="2">
                  <c:v>62.5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24E-48D7-9472-9C0AF9D44AE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Lãi ròng (nghìn đồng)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97B-4E44-B2C7-717D9CD3E78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97B-4E44-B2C7-717D9CD3E78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97B-4E44-B2C7-717D9CD3E787}"/>
              </c:ext>
            </c:extLst>
          </c:dPt>
          <c:dPt>
            <c:idx val="3"/>
            <c:invertIfNegative val="0"/>
            <c:bubble3D val="0"/>
            <c:spPr>
              <a:solidFill>
                <a:srgbClr val="E548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97B-4E44-B2C7-717D9CD3E787}"/>
              </c:ext>
            </c:extLst>
          </c:dPt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3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Nạp ĐT</c:v>
                </c:pt>
                <c:pt idx="1">
                  <c:v>Chuyển tiền</c:v>
                </c:pt>
                <c:pt idx="2">
                  <c:v>Học phí</c:v>
                </c:pt>
                <c:pt idx="3">
                  <c:v>Nạp ví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62.8</c:v>
                </c:pt>
                <c:pt idx="1">
                  <c:v>24.5</c:v>
                </c:pt>
                <c:pt idx="2">
                  <c:v>36.5</c:v>
                </c:pt>
                <c:pt idx="3">
                  <c:v>-11.5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97B-4E44-B2C7-717D9CD3E7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Phí ngân hàng (nghìn đồng)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00D-4ADD-A715-0BA5888A8718}"/>
              </c:ext>
            </c:extLst>
          </c:dPt>
          <c:dPt>
            <c:idx val="1"/>
            <c:invertIfNegative val="0"/>
            <c:bubble3D val="0"/>
            <c:spPr>
              <a:solidFill>
                <a:srgbClr val="9AA9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00D-4ADD-A715-0BA5888A8718}"/>
              </c:ext>
            </c:extLst>
          </c:dPt>
          <c:dPt>
            <c:idx val="2"/>
            <c:invertIfNegative val="0"/>
            <c:bubble3D val="0"/>
            <c:spPr>
              <a:solidFill>
                <a:srgbClr val="9AA9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00D-4ADD-A715-0BA5888A8718}"/>
              </c:ext>
            </c:extLst>
          </c:dPt>
          <c:dPt>
            <c:idx val="3"/>
            <c:invertIfNegative val="0"/>
            <c:bubble3D val="0"/>
            <c:spPr>
              <a:solidFill>
                <a:srgbClr val="9AA9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00D-4ADD-A715-0BA5888A8718}"/>
              </c:ext>
            </c:extLst>
          </c:dPt>
          <c:dLbls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3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BIDV</c:v>
                </c:pt>
                <c:pt idx="1">
                  <c:v>Techcombank</c:v>
                </c:pt>
                <c:pt idx="2">
                  <c:v>MB Bank</c:v>
                </c:pt>
                <c:pt idx="3">
                  <c:v>Vietcombank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36.5</c:v>
                </c:pt>
                <c:pt idx="1">
                  <c:v>27.2</c:v>
                </c:pt>
                <c:pt idx="2">
                  <c:v>27</c:v>
                </c:pt>
                <c:pt idx="3">
                  <c:v>25.9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00D-4ADD-A715-0BA5888A87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Mã GD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94A-43B5-99C4-677C3B56903F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94A-43B5-99C4-677C3B56903F}"/>
              </c:ext>
            </c:extLst>
          </c:dPt>
          <c:dLbls>
            <c:dLbl>
              <c:idx val="0"/>
              <c:numFmt formatCode="0" sourceLinked="0"/>
              <c:spPr/>
              <c:txPr>
                <a:bodyPr/>
                <a:lstStyle/>
                <a:p>
                  <a:pPr>
                    <a:defRPr sz="3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94A-43B5-99C4-677C3B56903F}"/>
                </c:ext>
              </c:extLst>
            </c:dLbl>
            <c:dLbl>
              <c:idx val="1"/>
              <c:numFmt formatCode="0" sourceLinked="0"/>
              <c:spPr/>
              <c:txPr>
                <a:bodyPr/>
                <a:lstStyle/>
                <a:p>
                  <a:pPr>
                    <a:defRPr sz="3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94A-43B5-99C4-677C3B56903F}"/>
                </c:ext>
              </c:extLst>
            </c:dLbl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3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Sạch (17)</c:v>
                </c:pt>
                <c:pt idx="1">
                  <c:v>Thừa khoảng trắng (7)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</c:v>
                </c:pt>
                <c:pt idx="1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94A-43B5-99C4-677C3B5690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3000"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7735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đầu: giới thiệu PayKX và dữ liệu mẫu. Bài theo Rule 10/20/30: 10 slide, khoảng 20 phút, chữ từ 30pt.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Tóm tắt các con số chính của tháng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Doanh thu 3 tháng; tháng 10 cao nhất.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sánh doanh thu theo loại giao dịch giữa tháng 9 và tháng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Doanh thu và phí ngân hàng theo tháng.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Lãi ròng theo tháng.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Lãi ròng theo loại giao dịch cả kỳ.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Phí trả cho từng ngân hàng đối tác.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Mã thừa khoảng trắng sẽ làm VLOOKUP báo #N/A; sau TRIM tất cả đều khớp.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luận và hành động.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400" b="1" dirty="0">
                <a:solidFill>
                  <a:srgbClr val="1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PayKX: báo cáo đối soát và lỗ lãi tháng 10/2026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Trưởng dự án PayKX – dữ liệu mẫu 24 giao dịch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Tháng 10: doanh thu tăng 20%, lãi ròng đạt 62,5 nghìn đồng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103120"/>
            <a:ext cx="10698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3600" dirty="0">
                <a:solidFill>
                  <a:srgbClr val="1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thu: 99,8 nghìn đồng</a:t>
            </a:r>
            <a:endParaRPr lang="en-US" sz="3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3600" dirty="0">
                <a:solidFill>
                  <a:srgbClr val="1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Phí ngân hàng: 37,3 nghìn đồng</a:t>
            </a:r>
            <a:endParaRPr lang="en-US" sz="3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3600" dirty="0">
                <a:solidFill>
                  <a:srgbClr val="1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Lãi ròng: 62,5 nghìn đồng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thu tăng 20% nhờ ưu đãi nạp điện thoại</a:t>
            </a:r>
            <a:endParaRPr lang="en-US" sz="3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110642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Nạp điện thoại tăng 32,8 nghìn đồng, nhiều nhất trong các loại giao dịch</a:t>
            </a:r>
            <a:endParaRPr lang="en-US" sz="3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110642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Phí ngân hàng chiếm 37% doanh thu tháng 10</a:t>
            </a:r>
            <a:endParaRPr lang="en-US" sz="3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110642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Lãi ròng tăng từ 36,8 lên 62,5 nghìn đồng</a:t>
            </a:r>
            <a:endParaRPr lang="en-US" sz="3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110642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Nạp ví từ ngân hàng đang lỗ 11,5 nghìn đồng</a:t>
            </a:r>
            <a:endParaRPr lang="en-US" sz="3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110642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BIDV thu phí cao nhất, chiếm 31% tổng phí ngân hàng</a:t>
            </a:r>
            <a:endParaRPr lang="en-US" sz="3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110642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7/24 mã giao dịch thừa khoảng trắng, TRIM xử lý hết</a:t>
            </a:r>
            <a:endParaRPr lang="en-US" sz="3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110642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việc cần làm trong quý IV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103120"/>
            <a:ext cx="10698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Font typeface="+mj-lt"/>
              <a:buAutoNum type="arabicPeriod"/>
            </a:pPr>
            <a:r>
              <a:rPr lang="en-US" sz="3600" dirty="0">
                <a:solidFill>
                  <a:srgbClr val="1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rộng ưu đãi nạp điện thoại</a:t>
            </a:r>
            <a:endParaRPr lang="en-US" sz="3600" dirty="0"/>
          </a:p>
          <a:p>
            <a:pPr marL="342900" indent="-342900">
              <a:spcAft>
                <a:spcPts val="1800"/>
              </a:spcAft>
              <a:buSzPct val="100000"/>
              <a:buFont typeface="+mj-lt"/>
              <a:buAutoNum type="arabicPeriod"/>
            </a:pPr>
            <a:r>
              <a:rPr lang="en-US" sz="3600" dirty="0">
                <a:solidFill>
                  <a:srgbClr val="1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Đàm phán lại phí với BIDV</a:t>
            </a:r>
            <a:endParaRPr lang="en-US" sz="3600" dirty="0"/>
          </a:p>
          <a:p>
            <a:pPr marL="342900" indent="-342900">
              <a:spcAft>
                <a:spcPts val="1800"/>
              </a:spcAft>
              <a:buSzPct val="100000"/>
              <a:buFont typeface="+mj-lt"/>
              <a:buAutoNum type="arabicPeriod"/>
            </a:pPr>
            <a:r>
              <a:rPr lang="en-US" sz="3600" dirty="0">
                <a:solidFill>
                  <a:srgbClr val="1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lại biểu phí nạp ví từ ngân hàng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</Words>
  <Application>Microsoft Office PowerPoint</Application>
  <PresentationFormat>Widescreen</PresentationFormat>
  <Paragraphs>37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PayKX - Báo cáo lỗ lãi tháng 10/2026</dc:title>
  <dc:subject>PptxGenJS Presentation</dc:subject>
  <dc:creator>PptxGenJS</dc:creator>
  <cp:lastModifiedBy>buihoangminh1307@gmail.com</cp:lastModifiedBy>
  <cp:revision>1</cp:revision>
  <dcterms:created xsi:type="dcterms:W3CDTF">2026-10-26T08:33:39Z</dcterms:created>
  <dcterms:modified xsi:type="dcterms:W3CDTF">2026-10-26T08:39:06Z</dcterms:modified>
</cp:coreProperties>
</file>